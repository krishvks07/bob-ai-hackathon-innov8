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(15 sec): "Good [morning/afternoon], we're [team name]. We built GridGuard AI, an outage and equipment failure advisor, for the Utilities track — Problem U1. It turns raw sensor and weather data into a prioritised action plan for grid operators." Then move straight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 sec): "Three things are true today. One — utilities already have the sensors: temperature, vibration, partial discharge, oil quality. That data already shows failures coming weeks in advance, but nobody's analysing it, so maintenance still runs on a fixed calendar. Two — weather forecasts sit in a totally separate system, so a storm hitting an already-degrading transformer never triggers extra urgency. Three — the cost of getting this wrong is enormous: over a million dollars per hour of outage. That's the gap we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(40 sec): "GridGuard scores every asset from 0 to 100 using seven weighted factors — age, hotspot temperature, vibration, partial discharge, oil quality, days since maintenance, and the weather severity forecast for that region. It's deliberately explainable, not a black box — an operator can see exactly why an asset scored what it did, which matters because utilities have to justify maintenance spend to regulators. Then, with one click, we re-rank the critical and high-risk assets by risk times grid-impact — so an asset that would take out a hospital feed gets prioritised even over a slightly riskier asset in a low-impact area — and we generate a concrete crew dispatch plan with real time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 sec, THEN SWITCH TO LIVE DEMO IF YOU CAN): "Here's the actual app — this chart is a real screenshot, not a mockup. Everything runs in a single HTML file with zero installs and zero API keys, which matters for judges: it will just work, every time. If you can, alt-tab to src/index.html right now, click a table column to sort it, then click 'Generate Maintenance &amp; Crew Plan' live and read one line of the output out loud — that's the strongest 20 seconds of your whole pitch. If you can't demo live, stay on this slide and narrate the data flow on the right: sensor data in, risk score out, ranked table and chart, then the plan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(25 sec): "We used IBM Bob in agent mode during the build itself — not just to write the README. We used it to scaffold the risk-scoring engine from a plain-English spec, to iterate on the crew-plan ranking logic, and to review the final code before submission." IMPORTANT — if a judge asks a follow-up, be ready to actually open Bob and show one real exchange from your session. If you haven't used Bob yet, do a quick 10-minute session before you present — install from bob.ibm.com/download, sign in, and ask it to review src/index.html or suggest one improvement. Even one real screenshot beats a generic claim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(25 sec): "Today this runs on a synthetic 18-asset fleet with a transparent heuristic model — that was the right scope for one day, and we say so honestly rather than overclaiming. The next step is training a real model on historical failure labels through IBM watsonx.ai, using the exact same factors we're already logging. At scale, this plugs into live SCADA and weather feeds, with confirmed failures feeding back into the model over time. For a mid-size utility, even a small shift from reactive to predicted maintenance is worth millions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(10 sec): "That's GridGuard AI — explainable risk scoring plus a one-click action plan, built to run anywhere with zero setup. Happy to take questions." Then stop talking — let the judges lead the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822960" y="2286000"/>
            <a:ext cx="10515600" cy="1005840"/>
          </a:xfrm>
          <a:prstGeom prst="rect">
            <a:avLst/>
          </a:prstGeom>
          <a:noFill/>
          <a:ln/>
        </p:spPr>
        <p:txBody>
          <a:bodyPr wrap="square" lIns="0" tIns="0" rIns="0" bIns="0" rtlCol="0" anchor="ctr"/>
          <a:lstStyle/>
          <a:p>
            <a:pPr indent="0" marL="0">
              <a:buNone/>
            </a:pPr>
            <a:r>
              <a:rPr lang="en-US" sz="4400" b="1" dirty="0">
                <a:solidFill>
                  <a:srgbClr val="E8EDF7"/>
                </a:solidFill>
                <a:latin typeface="Arial" pitchFamily="34" charset="0"/>
                <a:ea typeface="Arial" pitchFamily="34" charset="-122"/>
                <a:cs typeface="Arial" pitchFamily="34" charset="-120"/>
              </a:rPr>
              <a:t>⚡ GridGuard AI</a:t>
            </a:r>
            <a:endParaRPr lang="en-US" sz="4400" dirty="0"/>
          </a:p>
        </p:txBody>
      </p:sp>
      <p:sp>
        <p:nvSpPr>
          <p:cNvPr id="3" name="Text 1"/>
          <p:cNvSpPr txBox="1"/>
          <p:nvPr/>
        </p:nvSpPr>
        <p:spPr>
          <a:xfrm>
            <a:off x="822960" y="3200400"/>
            <a:ext cx="10515600" cy="640080"/>
          </a:xfrm>
          <a:prstGeom prst="rect">
            <a:avLst/>
          </a:prstGeom>
          <a:noFill/>
          <a:ln/>
        </p:spPr>
        <p:txBody>
          <a:bodyPr wrap="square" lIns="0" tIns="0" rIns="0" bIns="0" rtlCol="0" anchor="ctr"/>
          <a:lstStyle/>
          <a:p>
            <a:pPr indent="0" marL="0">
              <a:buNone/>
            </a:pPr>
            <a:r>
              <a:rPr lang="en-US" sz="2200" dirty="0">
                <a:solidFill>
                  <a:srgbClr val="4FD1C5"/>
                </a:solidFill>
                <a:latin typeface="Arial" pitchFamily="34" charset="0"/>
                <a:ea typeface="Arial" pitchFamily="34" charset="-122"/>
                <a:cs typeface="Arial" pitchFamily="34" charset="-120"/>
              </a:rPr>
              <a:t>Outage &amp; Equipment Failure Advisor</a:t>
            </a:r>
            <a:endParaRPr lang="en-US" sz="2200" dirty="0"/>
          </a:p>
        </p:txBody>
      </p:sp>
      <p:sp>
        <p:nvSpPr>
          <p:cNvPr id="4" name="Text 2"/>
          <p:cNvSpPr txBox="1"/>
          <p:nvPr/>
        </p:nvSpPr>
        <p:spPr>
          <a:xfrm>
            <a:off x="822960" y="3886200"/>
            <a:ext cx="10058400" cy="457200"/>
          </a:xfrm>
          <a:prstGeom prst="rect">
            <a:avLst/>
          </a:prstGeom>
          <a:noFill/>
          <a:ln/>
        </p:spPr>
        <p:txBody>
          <a:bodyPr wrap="square" lIns="0" tIns="0" rIns="0" bIns="0" rtlCol="0" anchor="ctr"/>
          <a:lstStyle/>
          <a:p>
            <a:pPr indent="0" marL="0">
              <a:buNone/>
            </a:pPr>
            <a:r>
              <a:rPr lang="en-US" sz="1400" dirty="0">
                <a:solidFill>
                  <a:srgbClr val="8FA0C2"/>
                </a:solidFill>
                <a:latin typeface="Arial" pitchFamily="34" charset="0"/>
                <a:ea typeface="Arial" pitchFamily="34" charset="-122"/>
                <a:cs typeface="Arial" pitchFamily="34" charset="-120"/>
              </a:rPr>
              <a:t>IBM BoB AI Innovation Hackathon 2026  ·  Track: AI  ·  Problem U1 — Utilities</a:t>
            </a:r>
            <a:endParaRPr lang="en-US" sz="1400" dirty="0"/>
          </a:p>
        </p:txBody>
      </p:sp>
      <p:sp>
        <p:nvSpPr>
          <p:cNvPr id="5" name="Text 3"/>
          <p:cNvSpPr txBox="1"/>
          <p:nvPr/>
        </p:nvSpPr>
        <p:spPr>
          <a:xfrm>
            <a:off x="822960" y="5760720"/>
            <a:ext cx="7315200" cy="365760"/>
          </a:xfrm>
          <a:prstGeom prst="rect">
            <a:avLst/>
          </a:prstGeom>
          <a:noFill/>
          <a:ln/>
        </p:spPr>
        <p:txBody>
          <a:bodyPr wrap="square" lIns="0" tIns="0" rIns="0" bIns="0" rtlCol="0" anchor="ctr"/>
          <a:lstStyle/>
          <a:p>
            <a:pPr indent="0" marL="0">
              <a:buNone/>
            </a:pPr>
            <a:r>
              <a:rPr lang="en-US" sz="1400" b="1" dirty="0">
                <a:solidFill>
                  <a:srgbClr val="E8EDF7"/>
                </a:solidFill>
                <a:latin typeface="Arial" pitchFamily="34" charset="0"/>
                <a:ea typeface="Arial" pitchFamily="34" charset="-122"/>
                <a:cs typeface="Arial" pitchFamily="34" charset="-120"/>
              </a:rPr>
              <a:t>Team [YOUR TEAM NAME]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640080" y="457200"/>
            <a:ext cx="10789920" cy="640080"/>
          </a:xfrm>
          <a:prstGeom prst="rect">
            <a:avLst/>
          </a:prstGeom>
          <a:noFill/>
          <a:ln/>
        </p:spPr>
        <p:txBody>
          <a:bodyPr wrap="square" lIns="0" tIns="0" rIns="0" bIns="0" rtlCol="0" anchor="ctr"/>
          <a:lstStyle/>
          <a:p>
            <a:pPr indent="0" marL="0">
              <a:buNone/>
            </a:pPr>
            <a:r>
              <a:rPr lang="en-US" sz="2800" b="1" dirty="0">
                <a:solidFill>
                  <a:srgbClr val="E8EDF7"/>
                </a:solidFill>
                <a:latin typeface="Arial" pitchFamily="34" charset="0"/>
                <a:ea typeface="Arial" pitchFamily="34" charset="-122"/>
                <a:cs typeface="Arial" pitchFamily="34" charset="-120"/>
              </a:rPr>
              <a:t>The Problem</a:t>
            </a:r>
            <a:endParaRPr lang="en-US" sz="2800" dirty="0"/>
          </a:p>
        </p:txBody>
      </p:sp>
      <p:sp>
        <p:nvSpPr>
          <p:cNvPr id="3" name="Text 1"/>
          <p:cNvSpPr txBox="1"/>
          <p:nvPr/>
        </p:nvSpPr>
        <p:spPr>
          <a:xfrm>
            <a:off x="640080" y="1051560"/>
            <a:ext cx="10789920" cy="457200"/>
          </a:xfrm>
          <a:prstGeom prst="rect">
            <a:avLst/>
          </a:prstGeom>
          <a:noFill/>
          <a:ln/>
        </p:spPr>
        <p:txBody>
          <a:bodyPr wrap="square" lIns="0" tIns="0" rIns="0" bIns="0" rtlCol="0" anchor="ctr"/>
          <a:lstStyle/>
          <a:p>
            <a:pPr indent="0" marL="0">
              <a:buNone/>
            </a:pPr>
            <a:r>
              <a:rPr lang="en-US" sz="1500" dirty="0">
                <a:solidFill>
                  <a:srgbClr val="8FA0C2"/>
                </a:solidFill>
                <a:latin typeface="Arial" pitchFamily="34" charset="0"/>
                <a:ea typeface="Arial" pitchFamily="34" charset="-122"/>
                <a:cs typeface="Arial" pitchFamily="34" charset="-120"/>
              </a:rPr>
              <a:t>Grid maintenance runs on the calendar, not on actual equipment condition</a:t>
            </a:r>
            <a:endParaRPr lang="en-US" sz="1500" dirty="0"/>
          </a:p>
        </p:txBody>
      </p:sp>
      <p:sp>
        <p:nvSpPr>
          <p:cNvPr id="4" name="Shape 2"/>
          <p:cNvSpPr/>
          <p:nvPr/>
        </p:nvSpPr>
        <p:spPr>
          <a:xfrm>
            <a:off x="640080" y="1920240"/>
            <a:ext cx="10789920" cy="1234440"/>
          </a:xfrm>
          <a:prstGeom prst="roundRect">
            <a:avLst>
              <a:gd name="adj" fmla="val 4444"/>
            </a:avLst>
          </a:prstGeom>
          <a:solidFill>
            <a:srgbClr val="121B2E"/>
          </a:solidFill>
          <a:ln w="12700">
            <a:solidFill>
              <a:srgbClr val="25314F"/>
            </a:solidFill>
            <a:prstDash val="solid"/>
          </a:ln>
        </p:spPr>
      </p:sp>
      <p:sp>
        <p:nvSpPr>
          <p:cNvPr id="5" name="Text 3"/>
          <p:cNvSpPr txBox="1"/>
          <p:nvPr/>
        </p:nvSpPr>
        <p:spPr>
          <a:xfrm>
            <a:off x="914400" y="2066544"/>
            <a:ext cx="10241280" cy="365760"/>
          </a:xfrm>
          <a:prstGeom prst="rect">
            <a:avLst/>
          </a:prstGeom>
          <a:noFill/>
          <a:ln/>
        </p:spPr>
        <p:txBody>
          <a:bodyPr wrap="square" lIns="0" tIns="0" rIns="0" bIns="0" rtlCol="0" anchor="ctr"/>
          <a:lstStyle/>
          <a:p>
            <a:pPr indent="0" marL="0">
              <a:buNone/>
            </a:pPr>
            <a:r>
              <a:rPr lang="en-US" sz="1500" b="1" dirty="0">
                <a:solidFill>
                  <a:srgbClr val="4FD1C5"/>
                </a:solidFill>
                <a:latin typeface="Arial" pitchFamily="34" charset="0"/>
                <a:ea typeface="Arial" pitchFamily="34" charset="-122"/>
                <a:cs typeface="Arial" pitchFamily="34" charset="-120"/>
              </a:rPr>
              <a:t>Sensors already know</a:t>
            </a:r>
            <a:endParaRPr lang="en-US" sz="1500" dirty="0"/>
          </a:p>
        </p:txBody>
      </p:sp>
      <p:sp>
        <p:nvSpPr>
          <p:cNvPr id="6" name="Text 4"/>
          <p:cNvSpPr txBox="1"/>
          <p:nvPr/>
        </p:nvSpPr>
        <p:spPr>
          <a:xfrm>
            <a:off x="914400" y="2450592"/>
            <a:ext cx="10241280" cy="594360"/>
          </a:xfrm>
          <a:prstGeom prst="rect">
            <a:avLst/>
          </a:prstGeom>
          <a:noFill/>
          <a:ln/>
        </p:spPr>
        <p:txBody>
          <a:bodyPr wrap="square" lIns="0" tIns="0" rIns="0" bIns="0" rtlCol="0" anchor="ctr"/>
          <a:lstStyle/>
          <a:p>
            <a:pPr indent="0" marL="0">
              <a:buNone/>
            </a:pPr>
            <a:r>
              <a:rPr lang="en-US" sz="1300" dirty="0">
                <a:solidFill>
                  <a:srgbClr val="E8EDF7"/>
                </a:solidFill>
                <a:latin typeface="Arial" pitchFamily="34" charset="0"/>
                <a:ea typeface="Arial" pitchFamily="34" charset="-122"/>
                <a:cs typeface="Arial" pitchFamily="34" charset="-120"/>
              </a:rPr>
              <a:t>Hotspot temperature, vibration, partial discharge, and oil quality show failure signatures weeks in advance — but the data sits unanalysed.</a:t>
            </a:r>
            <a:endParaRPr lang="en-US" sz="1300" dirty="0"/>
          </a:p>
        </p:txBody>
      </p:sp>
      <p:sp>
        <p:nvSpPr>
          <p:cNvPr id="7" name="Shape 5"/>
          <p:cNvSpPr/>
          <p:nvPr/>
        </p:nvSpPr>
        <p:spPr>
          <a:xfrm>
            <a:off x="640080" y="3383280"/>
            <a:ext cx="10789920" cy="1234440"/>
          </a:xfrm>
          <a:prstGeom prst="roundRect">
            <a:avLst>
              <a:gd name="adj" fmla="val 4444"/>
            </a:avLst>
          </a:prstGeom>
          <a:solidFill>
            <a:srgbClr val="121B2E"/>
          </a:solidFill>
          <a:ln w="12700">
            <a:solidFill>
              <a:srgbClr val="25314F"/>
            </a:solidFill>
            <a:prstDash val="solid"/>
          </a:ln>
        </p:spPr>
      </p:sp>
      <p:sp>
        <p:nvSpPr>
          <p:cNvPr id="8" name="Text 6"/>
          <p:cNvSpPr txBox="1"/>
          <p:nvPr/>
        </p:nvSpPr>
        <p:spPr>
          <a:xfrm>
            <a:off x="914400" y="3529584"/>
            <a:ext cx="10241280" cy="365760"/>
          </a:xfrm>
          <a:prstGeom prst="rect">
            <a:avLst/>
          </a:prstGeom>
          <a:noFill/>
          <a:ln/>
        </p:spPr>
        <p:txBody>
          <a:bodyPr wrap="square" lIns="0" tIns="0" rIns="0" bIns="0" rtlCol="0" anchor="ctr"/>
          <a:lstStyle/>
          <a:p>
            <a:pPr indent="0" marL="0">
              <a:buNone/>
            </a:pPr>
            <a:r>
              <a:rPr lang="en-US" sz="1500" b="1" dirty="0">
                <a:solidFill>
                  <a:srgbClr val="4FD1C5"/>
                </a:solidFill>
                <a:latin typeface="Arial" pitchFamily="34" charset="0"/>
                <a:ea typeface="Arial" pitchFamily="34" charset="-122"/>
                <a:cs typeface="Arial" pitchFamily="34" charset="-120"/>
              </a:rPr>
              <a:t>Weather is tracked separately</a:t>
            </a:r>
            <a:endParaRPr lang="en-US" sz="1500" dirty="0"/>
          </a:p>
        </p:txBody>
      </p:sp>
      <p:sp>
        <p:nvSpPr>
          <p:cNvPr id="9" name="Text 7"/>
          <p:cNvSpPr txBox="1"/>
          <p:nvPr/>
        </p:nvSpPr>
        <p:spPr>
          <a:xfrm>
            <a:off x="914400" y="3913632"/>
            <a:ext cx="10241280" cy="594360"/>
          </a:xfrm>
          <a:prstGeom prst="rect">
            <a:avLst/>
          </a:prstGeom>
          <a:noFill/>
          <a:ln/>
        </p:spPr>
        <p:txBody>
          <a:bodyPr wrap="square" lIns="0" tIns="0" rIns="0" bIns="0" rtlCol="0" anchor="ctr"/>
          <a:lstStyle/>
          <a:p>
            <a:pPr indent="0" marL="0">
              <a:buNone/>
            </a:pPr>
            <a:r>
              <a:rPr lang="en-US" sz="1300" dirty="0">
                <a:solidFill>
                  <a:srgbClr val="E8EDF7"/>
                </a:solidFill>
                <a:latin typeface="Arial" pitchFamily="34" charset="0"/>
                <a:ea typeface="Arial" pitchFamily="34" charset="-122"/>
                <a:cs typeface="Arial" pitchFamily="34" charset="-120"/>
              </a:rPr>
              <a:t>Nobody joins "this transformer is degrading" with "a heatwave hits that region in 3 days" into one action.</a:t>
            </a:r>
            <a:endParaRPr lang="en-US" sz="1300" dirty="0"/>
          </a:p>
        </p:txBody>
      </p:sp>
      <p:sp>
        <p:nvSpPr>
          <p:cNvPr id="10" name="Shape 8"/>
          <p:cNvSpPr/>
          <p:nvPr/>
        </p:nvSpPr>
        <p:spPr>
          <a:xfrm>
            <a:off x="640080" y="4846320"/>
            <a:ext cx="10789920" cy="1234440"/>
          </a:xfrm>
          <a:prstGeom prst="roundRect">
            <a:avLst>
              <a:gd name="adj" fmla="val 4444"/>
            </a:avLst>
          </a:prstGeom>
          <a:solidFill>
            <a:srgbClr val="121B2E"/>
          </a:solidFill>
          <a:ln w="12700">
            <a:solidFill>
              <a:srgbClr val="25314F"/>
            </a:solidFill>
            <a:prstDash val="solid"/>
          </a:ln>
        </p:spPr>
      </p:sp>
      <p:sp>
        <p:nvSpPr>
          <p:cNvPr id="11" name="Text 9"/>
          <p:cNvSpPr txBox="1"/>
          <p:nvPr/>
        </p:nvSpPr>
        <p:spPr>
          <a:xfrm>
            <a:off x="914400" y="4992624"/>
            <a:ext cx="10241280" cy="365760"/>
          </a:xfrm>
          <a:prstGeom prst="rect">
            <a:avLst/>
          </a:prstGeom>
          <a:noFill/>
          <a:ln/>
        </p:spPr>
        <p:txBody>
          <a:bodyPr wrap="square" lIns="0" tIns="0" rIns="0" bIns="0" rtlCol="0" anchor="ctr"/>
          <a:lstStyle/>
          <a:p>
            <a:pPr indent="0" marL="0">
              <a:buNone/>
            </a:pPr>
            <a:r>
              <a:rPr lang="en-US" sz="1500" b="1" dirty="0">
                <a:solidFill>
                  <a:srgbClr val="4FD1C5"/>
                </a:solidFill>
                <a:latin typeface="Arial" pitchFamily="34" charset="0"/>
                <a:ea typeface="Arial" pitchFamily="34" charset="-122"/>
                <a:cs typeface="Arial" pitchFamily="34" charset="-120"/>
              </a:rPr>
              <a:t>The cost of reacting late</a:t>
            </a:r>
            <a:endParaRPr lang="en-US" sz="1500" dirty="0"/>
          </a:p>
        </p:txBody>
      </p:sp>
      <p:sp>
        <p:nvSpPr>
          <p:cNvPr id="12" name="Text 10"/>
          <p:cNvSpPr txBox="1"/>
          <p:nvPr/>
        </p:nvSpPr>
        <p:spPr>
          <a:xfrm>
            <a:off x="914400" y="5376672"/>
            <a:ext cx="10241280" cy="594360"/>
          </a:xfrm>
          <a:prstGeom prst="rect">
            <a:avLst/>
          </a:prstGeom>
          <a:noFill/>
          <a:ln/>
        </p:spPr>
        <p:txBody>
          <a:bodyPr wrap="square" lIns="0" tIns="0" rIns="0" bIns="0" rtlCol="0" anchor="ctr"/>
          <a:lstStyle/>
          <a:p>
            <a:pPr indent="0" marL="0">
              <a:buNone/>
            </a:pPr>
            <a:r>
              <a:rPr lang="en-US" sz="1300" dirty="0">
                <a:solidFill>
                  <a:srgbClr val="E8EDF7"/>
                </a:solidFill>
                <a:latin typeface="Arial" pitchFamily="34" charset="0"/>
                <a:ea typeface="Arial" pitchFamily="34" charset="-122"/>
                <a:cs typeface="Arial" pitchFamily="34" charset="-120"/>
              </a:rPr>
              <a:t>Failures cost utilities $1M+ per hour of outage, and industry-wide maintenance spend runs into the tens of billions per year.</a:t>
            </a:r>
            <a:endParaRPr lang="en-US" sz="1300" dirty="0"/>
          </a:p>
        </p:txBody>
      </p:sp>
      <p:sp>
        <p:nvSpPr>
          <p:cNvPr id="13" name="Text 11"/>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FA0C2"/>
                </a:solidFill>
                <a:latin typeface="Arial" pitchFamily="34" charset="0"/>
                <a:ea typeface="Arial" pitchFamily="34" charset="-122"/>
                <a:cs typeface="Arial" pitchFamily="34" charset="-120"/>
              </a:rPr>
              <a:t>GridGuard AI  ·  IBM BoB AI Innovation Hackathon 2026</a:t>
            </a:r>
            <a:endParaRPr lang="en-US" sz="900" dirty="0"/>
          </a:p>
        </p:txBody>
      </p:sp>
      <p:sp>
        <p:nvSpPr>
          <p:cNvPr id="14" name="Text 12"/>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900" dirty="0">
                <a:solidFill>
                  <a:srgbClr val="8FA0C2"/>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640080" y="457200"/>
            <a:ext cx="10789920" cy="640080"/>
          </a:xfrm>
          <a:prstGeom prst="rect">
            <a:avLst/>
          </a:prstGeom>
          <a:noFill/>
          <a:ln/>
        </p:spPr>
        <p:txBody>
          <a:bodyPr wrap="square" lIns="0" tIns="0" rIns="0" bIns="0" rtlCol="0" anchor="ctr"/>
          <a:lstStyle/>
          <a:p>
            <a:pPr indent="0" marL="0">
              <a:buNone/>
            </a:pPr>
            <a:r>
              <a:rPr lang="en-US" sz="2800" b="1" dirty="0">
                <a:solidFill>
                  <a:srgbClr val="E8EDF7"/>
                </a:solidFill>
                <a:latin typeface="Arial" pitchFamily="34" charset="0"/>
                <a:ea typeface="Arial" pitchFamily="34" charset="-122"/>
                <a:cs typeface="Arial" pitchFamily="34" charset="-120"/>
              </a:rPr>
              <a:t>Our Solution</a:t>
            </a:r>
            <a:endParaRPr lang="en-US" sz="2800" dirty="0"/>
          </a:p>
        </p:txBody>
      </p:sp>
      <p:sp>
        <p:nvSpPr>
          <p:cNvPr id="3" name="Text 1"/>
          <p:cNvSpPr txBox="1"/>
          <p:nvPr/>
        </p:nvSpPr>
        <p:spPr>
          <a:xfrm>
            <a:off x="640080" y="1051560"/>
            <a:ext cx="10789920" cy="457200"/>
          </a:xfrm>
          <a:prstGeom prst="rect">
            <a:avLst/>
          </a:prstGeom>
          <a:noFill/>
          <a:ln/>
        </p:spPr>
        <p:txBody>
          <a:bodyPr wrap="square" lIns="0" tIns="0" rIns="0" bIns="0" rtlCol="0" anchor="ctr"/>
          <a:lstStyle/>
          <a:p>
            <a:pPr indent="0" marL="0">
              <a:buNone/>
            </a:pPr>
            <a:r>
              <a:rPr lang="en-US" sz="1500" dirty="0">
                <a:solidFill>
                  <a:srgbClr val="8FA0C2"/>
                </a:solidFill>
                <a:latin typeface="Arial" pitchFamily="34" charset="0"/>
                <a:ea typeface="Arial" pitchFamily="34" charset="-122"/>
                <a:cs typeface="Arial" pitchFamily="34" charset="-120"/>
              </a:rPr>
              <a:t>An explainable risk score for every asset, and a one-click action plan</a:t>
            </a:r>
            <a:endParaRPr lang="en-US" sz="1500" dirty="0"/>
          </a:p>
        </p:txBody>
      </p:sp>
      <p:sp>
        <p:nvSpPr>
          <p:cNvPr id="4" name="Shape 2"/>
          <p:cNvSpPr/>
          <p:nvPr/>
        </p:nvSpPr>
        <p:spPr>
          <a:xfrm>
            <a:off x="640080" y="1737360"/>
            <a:ext cx="6400800" cy="4206240"/>
          </a:xfrm>
          <a:prstGeom prst="roundRect">
            <a:avLst>
              <a:gd name="adj" fmla="val 1304"/>
            </a:avLst>
          </a:prstGeom>
          <a:solidFill>
            <a:srgbClr val="121B2E"/>
          </a:solidFill>
          <a:ln w="12700">
            <a:solidFill>
              <a:srgbClr val="25314F"/>
            </a:solidFill>
            <a:prstDash val="solid"/>
          </a:ln>
        </p:spPr>
      </p:sp>
      <p:sp>
        <p:nvSpPr>
          <p:cNvPr id="5" name="Text 3"/>
          <p:cNvSpPr txBox="1"/>
          <p:nvPr/>
        </p:nvSpPr>
        <p:spPr>
          <a:xfrm>
            <a:off x="914400" y="1920240"/>
            <a:ext cx="5852160" cy="365760"/>
          </a:xfrm>
          <a:prstGeom prst="rect">
            <a:avLst/>
          </a:prstGeom>
          <a:noFill/>
          <a:ln/>
        </p:spPr>
        <p:txBody>
          <a:bodyPr wrap="square" lIns="0" tIns="0" rIns="0" bIns="0" rtlCol="0" anchor="ctr"/>
          <a:lstStyle/>
          <a:p>
            <a:pPr indent="0" marL="0">
              <a:buNone/>
            </a:pPr>
            <a:r>
              <a:rPr lang="en-US" sz="1400" b="1" dirty="0">
                <a:solidFill>
                  <a:srgbClr val="4FD1C5"/>
                </a:solidFill>
                <a:latin typeface="Arial" pitchFamily="34" charset="0"/>
                <a:ea typeface="Arial" pitchFamily="34" charset="-122"/>
                <a:cs typeface="Arial" pitchFamily="34" charset="-120"/>
              </a:rPr>
              <a:t>Risk score (0-100)</a:t>
            </a:r>
            <a:endParaRPr lang="en-US" sz="1400" dirty="0"/>
          </a:p>
        </p:txBody>
      </p:sp>
      <p:sp>
        <p:nvSpPr>
          <p:cNvPr id="6" name="Text 4"/>
          <p:cNvSpPr txBox="1"/>
          <p:nvPr/>
        </p:nvSpPr>
        <p:spPr>
          <a:xfrm>
            <a:off x="914400" y="2377440"/>
            <a:ext cx="5852160" cy="1920240"/>
          </a:xfrm>
          <a:prstGeom prst="rect">
            <a:avLst/>
          </a:prstGeom>
          <a:noFill/>
          <a:ln/>
        </p:spPr>
        <p:txBody>
          <a:bodyPr wrap="square" lIns="0" tIns="0" rIns="0" bIns="0" rtlCol="0" anchor="ctr"/>
          <a:lstStyle/>
          <a:p>
            <a:pPr indent="0" marL="0">
              <a:spcAft>
                <a:spcPts val="400"/>
              </a:spcAft>
              <a:buNone/>
            </a:pPr>
            <a:r>
              <a:rPr lang="en-US" sz="1300" dirty="0">
                <a:solidFill>
                  <a:srgbClr val="E8EDF7"/>
                </a:solidFill>
                <a:latin typeface="Consolas" pitchFamily="34" charset="0"/>
                <a:ea typeface="Consolas" pitchFamily="34" charset="-122"/>
                <a:cs typeface="Consolas" pitchFamily="34" charset="-120"/>
              </a:rPr>
              <a:t>0.20 x age</a:t>
            </a:r>
            <a:endParaRPr lang="en-US" sz="1300" dirty="0"/>
          </a:p>
          <a:p>
            <a:pPr indent="0" marL="0">
              <a:spcAft>
                <a:spcPts val="400"/>
              </a:spcAft>
              <a:buNone/>
            </a:pPr>
            <a:r>
              <a:rPr lang="en-US" sz="1300" dirty="0">
                <a:solidFill>
                  <a:srgbClr val="E8EDF7"/>
                </a:solidFill>
                <a:latin typeface="Consolas" pitchFamily="34" charset="0"/>
                <a:ea typeface="Consolas" pitchFamily="34" charset="-122"/>
                <a:cs typeface="Consolas" pitchFamily="34" charset="-120"/>
              </a:rPr>
              <a:t>+ 0.18 x hotspot temperature</a:t>
            </a:r>
            <a:endParaRPr lang="en-US" sz="1300" dirty="0"/>
          </a:p>
          <a:p>
            <a:pPr indent="0" marL="0">
              <a:spcAft>
                <a:spcPts val="400"/>
              </a:spcAft>
              <a:buNone/>
            </a:pPr>
            <a:r>
              <a:rPr lang="en-US" sz="1300" dirty="0">
                <a:solidFill>
                  <a:srgbClr val="E8EDF7"/>
                </a:solidFill>
                <a:latin typeface="Consolas" pitchFamily="34" charset="0"/>
                <a:ea typeface="Consolas" pitchFamily="34" charset="-122"/>
                <a:cs typeface="Consolas" pitchFamily="34" charset="-120"/>
              </a:rPr>
              <a:t>+ 0.14 x vibration</a:t>
            </a:r>
            <a:endParaRPr lang="en-US" sz="1300" dirty="0"/>
          </a:p>
          <a:p>
            <a:pPr indent="0" marL="0">
              <a:spcAft>
                <a:spcPts val="400"/>
              </a:spcAft>
              <a:buNone/>
            </a:pPr>
            <a:r>
              <a:rPr lang="en-US" sz="1300" dirty="0">
                <a:solidFill>
                  <a:srgbClr val="E8EDF7"/>
                </a:solidFill>
                <a:latin typeface="Consolas" pitchFamily="34" charset="0"/>
                <a:ea typeface="Consolas" pitchFamily="34" charset="-122"/>
                <a:cs typeface="Consolas" pitchFamily="34" charset="-120"/>
              </a:rPr>
              <a:t>+ 0.14 x partial discharge</a:t>
            </a:r>
            <a:endParaRPr lang="en-US" sz="1300" dirty="0"/>
          </a:p>
          <a:p>
            <a:pPr indent="0" marL="0">
              <a:spcAft>
                <a:spcPts val="400"/>
              </a:spcAft>
              <a:buNone/>
            </a:pPr>
            <a:r>
              <a:rPr lang="en-US" sz="1300" dirty="0">
                <a:solidFill>
                  <a:srgbClr val="E8EDF7"/>
                </a:solidFill>
                <a:latin typeface="Consolas" pitchFamily="34" charset="0"/>
                <a:ea typeface="Consolas" pitchFamily="34" charset="-122"/>
                <a:cs typeface="Consolas" pitchFamily="34" charset="-120"/>
              </a:rPr>
              <a:t>+ 0.14 x (1 - oil quality)</a:t>
            </a:r>
            <a:endParaRPr lang="en-US" sz="1300" dirty="0"/>
          </a:p>
          <a:p>
            <a:pPr indent="0" marL="0">
              <a:spcAft>
                <a:spcPts val="400"/>
              </a:spcAft>
              <a:buNone/>
            </a:pPr>
            <a:r>
              <a:rPr lang="en-US" sz="1300" dirty="0">
                <a:solidFill>
                  <a:srgbClr val="E8EDF7"/>
                </a:solidFill>
                <a:latin typeface="Consolas" pitchFamily="34" charset="0"/>
                <a:ea typeface="Consolas" pitchFamily="34" charset="-122"/>
                <a:cs typeface="Consolas" pitchFamily="34" charset="-120"/>
              </a:rPr>
              <a:t>+ 0.08 x days since maintenance</a:t>
            </a:r>
            <a:endParaRPr lang="en-US" sz="1300" dirty="0"/>
          </a:p>
          <a:p>
            <a:pPr indent="0" marL="0">
              <a:spcAft>
                <a:spcPts val="400"/>
              </a:spcAft>
              <a:buNone/>
            </a:pPr>
            <a:r>
              <a:rPr lang="en-US" sz="1300" dirty="0">
                <a:solidFill>
                  <a:srgbClr val="E8EDF7"/>
                </a:solidFill>
                <a:latin typeface="Consolas" pitchFamily="34" charset="0"/>
                <a:ea typeface="Consolas" pitchFamily="34" charset="-122"/>
                <a:cs typeface="Consolas" pitchFamily="34" charset="-120"/>
              </a:rPr>
              <a:t>+ 0.12 x weather severity forecast</a:t>
            </a:r>
            <a:endParaRPr lang="en-US" sz="1300" dirty="0"/>
          </a:p>
        </p:txBody>
      </p:sp>
      <p:sp>
        <p:nvSpPr>
          <p:cNvPr id="7" name="Text 5"/>
          <p:cNvSpPr txBox="1"/>
          <p:nvPr/>
        </p:nvSpPr>
        <p:spPr>
          <a:xfrm>
            <a:off x="914400" y="4434840"/>
            <a:ext cx="5852160" cy="1371600"/>
          </a:xfrm>
          <a:prstGeom prst="rect">
            <a:avLst/>
          </a:prstGeom>
          <a:noFill/>
          <a:ln/>
        </p:spPr>
        <p:txBody>
          <a:bodyPr wrap="square" lIns="0" tIns="0" rIns="0" bIns="0" rtlCol="0" anchor="ctr"/>
          <a:lstStyle/>
          <a:p>
            <a:pPr indent="0" marL="0">
              <a:buNone/>
            </a:pPr>
            <a:r>
              <a:rPr lang="en-US" sz="1250" dirty="0">
                <a:solidFill>
                  <a:srgbClr val="8FA0C2"/>
                </a:solidFill>
                <a:latin typeface="Arial" pitchFamily="34" charset="0"/>
                <a:ea typeface="Arial" pitchFamily="34" charset="-122"/>
                <a:cs typeface="Arial" pitchFamily="34" charset="-120"/>
              </a:rPr>
              <a:t>Every factor is normalised, weighted, and traceable — a supervisor can see exactly why an asset scored what it did.</a:t>
            </a:r>
            <a:endParaRPr lang="en-US" sz="1250" dirty="0"/>
          </a:p>
        </p:txBody>
      </p:sp>
      <p:sp>
        <p:nvSpPr>
          <p:cNvPr id="8" name="Shape 6"/>
          <p:cNvSpPr/>
          <p:nvPr/>
        </p:nvSpPr>
        <p:spPr>
          <a:xfrm>
            <a:off x="7223760" y="1737360"/>
            <a:ext cx="4206240" cy="4206240"/>
          </a:xfrm>
          <a:prstGeom prst="roundRect">
            <a:avLst>
              <a:gd name="adj" fmla="val 1304"/>
            </a:avLst>
          </a:prstGeom>
          <a:solidFill>
            <a:srgbClr val="121B2E"/>
          </a:solidFill>
          <a:ln w="12700">
            <a:solidFill>
              <a:srgbClr val="25314F"/>
            </a:solidFill>
            <a:prstDash val="solid"/>
          </a:ln>
        </p:spPr>
      </p:sp>
      <p:sp>
        <p:nvSpPr>
          <p:cNvPr id="9" name="Text 7"/>
          <p:cNvSpPr txBox="1"/>
          <p:nvPr/>
        </p:nvSpPr>
        <p:spPr>
          <a:xfrm>
            <a:off x="7498080" y="1920240"/>
            <a:ext cx="3657600" cy="365760"/>
          </a:xfrm>
          <a:prstGeom prst="rect">
            <a:avLst/>
          </a:prstGeom>
          <a:noFill/>
          <a:ln/>
        </p:spPr>
        <p:txBody>
          <a:bodyPr wrap="square" lIns="0" tIns="0" rIns="0" bIns="0" rtlCol="0" anchor="ctr"/>
          <a:lstStyle/>
          <a:p>
            <a:pPr indent="0" marL="0">
              <a:buNone/>
            </a:pPr>
            <a:r>
              <a:rPr lang="en-US" sz="1400" b="1" dirty="0">
                <a:solidFill>
                  <a:srgbClr val="4FD1C5"/>
                </a:solidFill>
                <a:latin typeface="Arial" pitchFamily="34" charset="0"/>
                <a:ea typeface="Arial" pitchFamily="34" charset="-122"/>
                <a:cs typeface="Arial" pitchFamily="34" charset="-120"/>
              </a:rPr>
              <a:t>Then, one click:</a:t>
            </a:r>
            <a:endParaRPr lang="en-US" sz="1400" dirty="0"/>
          </a:p>
        </p:txBody>
      </p:sp>
      <p:sp>
        <p:nvSpPr>
          <p:cNvPr id="10" name="Shape 8"/>
          <p:cNvSpPr/>
          <p:nvPr/>
        </p:nvSpPr>
        <p:spPr>
          <a:xfrm>
            <a:off x="7498080" y="2468880"/>
            <a:ext cx="320040" cy="320040"/>
          </a:xfrm>
          <a:prstGeom prst="ellipse">
            <a:avLst/>
          </a:prstGeom>
          <a:solidFill>
            <a:srgbClr val="4FD1C5"/>
          </a:solidFill>
          <a:ln/>
        </p:spPr>
      </p:sp>
      <p:sp>
        <p:nvSpPr>
          <p:cNvPr id="11" name="Text 9"/>
          <p:cNvSpPr txBox="1"/>
          <p:nvPr/>
        </p:nvSpPr>
        <p:spPr>
          <a:xfrm>
            <a:off x="7498080" y="2468880"/>
            <a:ext cx="320040" cy="320040"/>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1</a:t>
            </a:r>
            <a:endParaRPr lang="en-US" sz="1300" dirty="0"/>
          </a:p>
        </p:txBody>
      </p:sp>
      <p:sp>
        <p:nvSpPr>
          <p:cNvPr id="12" name="Text 10"/>
          <p:cNvSpPr txBox="1"/>
          <p:nvPr/>
        </p:nvSpPr>
        <p:spPr>
          <a:xfrm>
            <a:off x="7955280" y="2423160"/>
            <a:ext cx="3383280" cy="548640"/>
          </a:xfrm>
          <a:prstGeom prst="rect">
            <a:avLst/>
          </a:prstGeom>
          <a:noFill/>
          <a:ln/>
        </p:spPr>
        <p:txBody>
          <a:bodyPr wrap="square" lIns="0" tIns="0" rIns="0" bIns="0" rtlCol="0" anchor="ctr"/>
          <a:lstStyle/>
          <a:p>
            <a:pPr indent="0" marL="0">
              <a:buNone/>
            </a:pPr>
            <a:r>
              <a:rPr lang="en-US" sz="1250" dirty="0">
                <a:solidFill>
                  <a:srgbClr val="E8EDF7"/>
                </a:solidFill>
                <a:latin typeface="Arial" pitchFamily="34" charset="0"/>
                <a:ea typeface="Arial" pitchFamily="34" charset="-122"/>
                <a:cs typeface="Arial" pitchFamily="34" charset="-120"/>
              </a:rPr>
              <a:t>Re-rank CRITICAL/HIGH assets by risk x grid-impact</a:t>
            </a:r>
            <a:endParaRPr lang="en-US" sz="1250" dirty="0"/>
          </a:p>
        </p:txBody>
      </p:sp>
      <p:sp>
        <p:nvSpPr>
          <p:cNvPr id="13" name="Shape 11"/>
          <p:cNvSpPr/>
          <p:nvPr/>
        </p:nvSpPr>
        <p:spPr>
          <a:xfrm>
            <a:off x="7498080" y="3291840"/>
            <a:ext cx="320040" cy="320040"/>
          </a:xfrm>
          <a:prstGeom prst="ellipse">
            <a:avLst/>
          </a:prstGeom>
          <a:solidFill>
            <a:srgbClr val="4FD1C5"/>
          </a:solidFill>
          <a:ln/>
        </p:spPr>
      </p:sp>
      <p:sp>
        <p:nvSpPr>
          <p:cNvPr id="14" name="Text 12"/>
          <p:cNvSpPr txBox="1"/>
          <p:nvPr/>
        </p:nvSpPr>
        <p:spPr>
          <a:xfrm>
            <a:off x="7498080" y="3291840"/>
            <a:ext cx="320040" cy="320040"/>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7955280" y="3246120"/>
            <a:ext cx="3383280" cy="548640"/>
          </a:xfrm>
          <a:prstGeom prst="rect">
            <a:avLst/>
          </a:prstGeom>
          <a:noFill/>
          <a:ln/>
        </p:spPr>
        <p:txBody>
          <a:bodyPr wrap="square" lIns="0" tIns="0" rIns="0" bIns="0" rtlCol="0" anchor="ctr"/>
          <a:lstStyle/>
          <a:p>
            <a:pPr indent="0" marL="0">
              <a:buNone/>
            </a:pPr>
            <a:r>
              <a:rPr lang="en-US" sz="1250" dirty="0">
                <a:solidFill>
                  <a:srgbClr val="E8EDF7"/>
                </a:solidFill>
                <a:latin typeface="Arial" pitchFamily="34" charset="0"/>
                <a:ea typeface="Arial" pitchFamily="34" charset="-122"/>
                <a:cs typeface="Arial" pitchFamily="34" charset="-120"/>
              </a:rPr>
              <a:t>Assign an action window (24-48h vs 5-7 days)</a:t>
            </a:r>
            <a:endParaRPr lang="en-US" sz="1250" dirty="0"/>
          </a:p>
        </p:txBody>
      </p:sp>
      <p:sp>
        <p:nvSpPr>
          <p:cNvPr id="16" name="Shape 14"/>
          <p:cNvSpPr/>
          <p:nvPr/>
        </p:nvSpPr>
        <p:spPr>
          <a:xfrm>
            <a:off x="7498080" y="4114800"/>
            <a:ext cx="320040" cy="320040"/>
          </a:xfrm>
          <a:prstGeom prst="ellipse">
            <a:avLst/>
          </a:prstGeom>
          <a:solidFill>
            <a:srgbClr val="4FD1C5"/>
          </a:solidFill>
          <a:ln/>
        </p:spPr>
      </p:sp>
      <p:sp>
        <p:nvSpPr>
          <p:cNvPr id="17" name="Text 15"/>
          <p:cNvSpPr txBox="1"/>
          <p:nvPr/>
        </p:nvSpPr>
        <p:spPr>
          <a:xfrm>
            <a:off x="7498080" y="4114800"/>
            <a:ext cx="320040" cy="320040"/>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3</a:t>
            </a:r>
            <a:endParaRPr lang="en-US" sz="1300" dirty="0"/>
          </a:p>
        </p:txBody>
      </p:sp>
      <p:sp>
        <p:nvSpPr>
          <p:cNvPr id="18" name="Text 16"/>
          <p:cNvSpPr txBox="1"/>
          <p:nvPr/>
        </p:nvSpPr>
        <p:spPr>
          <a:xfrm>
            <a:off x="7955280" y="4069080"/>
            <a:ext cx="3383280" cy="548640"/>
          </a:xfrm>
          <a:prstGeom prst="rect">
            <a:avLst/>
          </a:prstGeom>
          <a:noFill/>
          <a:ln/>
        </p:spPr>
        <p:txBody>
          <a:bodyPr wrap="square" lIns="0" tIns="0" rIns="0" bIns="0" rtlCol="0" anchor="ctr"/>
          <a:lstStyle/>
          <a:p>
            <a:pPr indent="0" marL="0">
              <a:buNone/>
            </a:pPr>
            <a:r>
              <a:rPr lang="en-US" sz="1250" dirty="0">
                <a:solidFill>
                  <a:srgbClr val="E8EDF7"/>
                </a:solidFill>
                <a:latin typeface="Arial" pitchFamily="34" charset="0"/>
                <a:ea typeface="Arial" pitchFamily="34" charset="-122"/>
                <a:cs typeface="Arial" pitchFamily="34" charset="-120"/>
              </a:rPr>
              <a:t>Pull real sensor drivers per asset into the plan</a:t>
            </a:r>
            <a:endParaRPr lang="en-US" sz="1250" dirty="0"/>
          </a:p>
        </p:txBody>
      </p:sp>
      <p:sp>
        <p:nvSpPr>
          <p:cNvPr id="19" name="Shape 17"/>
          <p:cNvSpPr/>
          <p:nvPr/>
        </p:nvSpPr>
        <p:spPr>
          <a:xfrm>
            <a:off x="7498080" y="4937760"/>
            <a:ext cx="320040" cy="320040"/>
          </a:xfrm>
          <a:prstGeom prst="ellipse">
            <a:avLst/>
          </a:prstGeom>
          <a:solidFill>
            <a:srgbClr val="4FD1C5"/>
          </a:solidFill>
          <a:ln/>
        </p:spPr>
      </p:sp>
      <p:sp>
        <p:nvSpPr>
          <p:cNvPr id="20" name="Text 18"/>
          <p:cNvSpPr txBox="1"/>
          <p:nvPr/>
        </p:nvSpPr>
        <p:spPr>
          <a:xfrm>
            <a:off x="7498080" y="4937760"/>
            <a:ext cx="320040" cy="320040"/>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4</a:t>
            </a:r>
            <a:endParaRPr lang="en-US" sz="1300" dirty="0"/>
          </a:p>
        </p:txBody>
      </p:sp>
      <p:sp>
        <p:nvSpPr>
          <p:cNvPr id="21" name="Text 19"/>
          <p:cNvSpPr txBox="1"/>
          <p:nvPr/>
        </p:nvSpPr>
        <p:spPr>
          <a:xfrm>
            <a:off x="7955280" y="4892040"/>
            <a:ext cx="3383280" cy="548640"/>
          </a:xfrm>
          <a:prstGeom prst="rect">
            <a:avLst/>
          </a:prstGeom>
          <a:noFill/>
          <a:ln/>
        </p:spPr>
        <p:txBody>
          <a:bodyPr wrap="square" lIns="0" tIns="0" rIns="0" bIns="0" rtlCol="0" anchor="ctr"/>
          <a:lstStyle/>
          <a:p>
            <a:pPr indent="0" marL="0">
              <a:buNone/>
            </a:pPr>
            <a:r>
              <a:rPr lang="en-US" sz="1250" dirty="0">
                <a:solidFill>
                  <a:srgbClr val="E8EDF7"/>
                </a:solidFill>
                <a:latin typeface="Arial" pitchFamily="34" charset="0"/>
                <a:ea typeface="Arial" pitchFamily="34" charset="-122"/>
                <a:cs typeface="Arial" pitchFamily="34" charset="-120"/>
              </a:rPr>
              <a:t>Flag which region to pre-position crews in first</a:t>
            </a:r>
            <a:endParaRPr lang="en-US" sz="1250" dirty="0"/>
          </a:p>
        </p:txBody>
      </p:sp>
      <p:sp>
        <p:nvSpPr>
          <p:cNvPr id="22" name="Text 20"/>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FA0C2"/>
                </a:solidFill>
                <a:latin typeface="Arial" pitchFamily="34" charset="0"/>
                <a:ea typeface="Arial" pitchFamily="34" charset="-122"/>
                <a:cs typeface="Arial" pitchFamily="34" charset="-120"/>
              </a:rPr>
              <a:t>GridGuard AI  ·  IBM BoB AI Innovation Hackathon 2026</a:t>
            </a:r>
            <a:endParaRPr lang="en-US" sz="900" dirty="0"/>
          </a:p>
        </p:txBody>
      </p:sp>
      <p:sp>
        <p:nvSpPr>
          <p:cNvPr id="23" name="Text 21"/>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900" dirty="0">
                <a:solidFill>
                  <a:srgbClr val="8FA0C2"/>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640080" y="457200"/>
            <a:ext cx="10789920" cy="640080"/>
          </a:xfrm>
          <a:prstGeom prst="rect">
            <a:avLst/>
          </a:prstGeom>
          <a:noFill/>
          <a:ln/>
        </p:spPr>
        <p:txBody>
          <a:bodyPr wrap="square" lIns="0" tIns="0" rIns="0" bIns="0" rtlCol="0" anchor="ctr"/>
          <a:lstStyle/>
          <a:p>
            <a:pPr indent="0" marL="0">
              <a:buNone/>
            </a:pPr>
            <a:r>
              <a:rPr lang="en-US" sz="2800" b="1" dirty="0">
                <a:solidFill>
                  <a:srgbClr val="E8EDF7"/>
                </a:solidFill>
                <a:latin typeface="Arial" pitchFamily="34" charset="0"/>
                <a:ea typeface="Arial" pitchFamily="34" charset="-122"/>
                <a:cs typeface="Arial" pitchFamily="34" charset="-120"/>
              </a:rPr>
              <a:t>Demo &amp; Architecture</a:t>
            </a:r>
            <a:endParaRPr lang="en-US" sz="2800" dirty="0"/>
          </a:p>
        </p:txBody>
      </p:sp>
      <p:sp>
        <p:nvSpPr>
          <p:cNvPr id="3" name="Text 1"/>
          <p:cNvSpPr txBox="1"/>
          <p:nvPr/>
        </p:nvSpPr>
        <p:spPr>
          <a:xfrm>
            <a:off x="640080" y="1051560"/>
            <a:ext cx="10789920" cy="457200"/>
          </a:xfrm>
          <a:prstGeom prst="rect">
            <a:avLst/>
          </a:prstGeom>
          <a:noFill/>
          <a:ln/>
        </p:spPr>
        <p:txBody>
          <a:bodyPr wrap="square" lIns="0" tIns="0" rIns="0" bIns="0" rtlCol="0" anchor="ctr"/>
          <a:lstStyle/>
          <a:p>
            <a:pPr indent="0" marL="0">
              <a:buNone/>
            </a:pPr>
            <a:r>
              <a:rPr lang="en-US" sz="1500" dirty="0">
                <a:solidFill>
                  <a:srgbClr val="8FA0C2"/>
                </a:solidFill>
                <a:latin typeface="Arial" pitchFamily="34" charset="0"/>
                <a:ea typeface="Arial" pitchFamily="34" charset="-122"/>
                <a:cs typeface="Arial" pitchFamily="34" charset="-120"/>
              </a:rPr>
              <a:t>A single dependency-free dashboard — ingest, score, rank, act</a:t>
            </a:r>
            <a:endParaRPr lang="en-US" sz="1500" dirty="0"/>
          </a:p>
        </p:txBody>
      </p:sp>
      <p:pic>
        <p:nvPicPr>
          <p:cNvPr id="4" name="Image 0" descr="/home/claude/repo/demo/screenshots/02-risk-ranking-and-chart.png">    </p:cNvPr>
          <p:cNvPicPr>
            <a:picLocks noChangeAspect="1"/>
          </p:cNvPicPr>
          <p:nvPr/>
        </p:nvPicPr>
        <p:blipFill>
          <a:blip r:embed="rId1"/>
          <a:srcRect l="0" r="0" t="0" b="0"/>
          <a:stretch/>
        </p:blipFill>
        <p:spPr>
          <a:xfrm>
            <a:off x="640080" y="1691640"/>
            <a:ext cx="6766560" cy="4343400"/>
          </a:xfrm>
          <a:prstGeom prst="rect">
            <a:avLst/>
          </a:prstGeom>
        </p:spPr>
      </p:pic>
      <p:sp>
        <p:nvSpPr>
          <p:cNvPr id="5" name="Shape 2"/>
          <p:cNvSpPr/>
          <p:nvPr/>
        </p:nvSpPr>
        <p:spPr>
          <a:xfrm>
            <a:off x="7635240" y="1691640"/>
            <a:ext cx="3840480" cy="4343400"/>
          </a:xfrm>
          <a:prstGeom prst="roundRect">
            <a:avLst>
              <a:gd name="adj" fmla="val 1429"/>
            </a:avLst>
          </a:prstGeom>
          <a:solidFill>
            <a:srgbClr val="121B2E"/>
          </a:solidFill>
          <a:ln w="12700">
            <a:solidFill>
              <a:srgbClr val="25314F"/>
            </a:solidFill>
            <a:prstDash val="solid"/>
          </a:ln>
        </p:spPr>
      </p:sp>
      <p:sp>
        <p:nvSpPr>
          <p:cNvPr id="6" name="Text 3"/>
          <p:cNvSpPr txBox="1"/>
          <p:nvPr/>
        </p:nvSpPr>
        <p:spPr>
          <a:xfrm>
            <a:off x="7863840" y="1874520"/>
            <a:ext cx="3383280" cy="365760"/>
          </a:xfrm>
          <a:prstGeom prst="rect">
            <a:avLst/>
          </a:prstGeom>
          <a:noFill/>
          <a:ln/>
        </p:spPr>
        <p:txBody>
          <a:bodyPr wrap="square" lIns="0" tIns="0" rIns="0" bIns="0" rtlCol="0" anchor="ctr"/>
          <a:lstStyle/>
          <a:p>
            <a:pPr indent="0" marL="0">
              <a:buNone/>
            </a:pPr>
            <a:r>
              <a:rPr lang="en-US" sz="1400" b="1" dirty="0">
                <a:solidFill>
                  <a:srgbClr val="4FD1C5"/>
                </a:solidFill>
                <a:latin typeface="Arial" pitchFamily="34" charset="0"/>
                <a:ea typeface="Arial" pitchFamily="34" charset="-122"/>
                <a:cs typeface="Arial" pitchFamily="34" charset="-120"/>
              </a:rPr>
              <a:t>Data flow</a:t>
            </a:r>
            <a:endParaRPr lang="en-US" sz="1400" dirty="0"/>
          </a:p>
        </p:txBody>
      </p:sp>
      <p:sp>
        <p:nvSpPr>
          <p:cNvPr id="7" name="Text 4"/>
          <p:cNvSpPr txBox="1"/>
          <p:nvPr/>
        </p:nvSpPr>
        <p:spPr>
          <a:xfrm>
            <a:off x="7863840" y="2331720"/>
            <a:ext cx="3383280" cy="3474720"/>
          </a:xfrm>
          <a:prstGeom prst="rect">
            <a:avLst/>
          </a:prstGeom>
          <a:noFill/>
          <a:ln/>
        </p:spPr>
        <p:txBody>
          <a:bodyPr wrap="square" lIns="0" tIns="0" rIns="0" bIns="0" rtlCol="0" anchor="ctr"/>
          <a:lstStyle/>
          <a:p>
            <a:pPr algn="l" indent="0" marL="0">
              <a:spcAft>
                <a:spcPts val="300"/>
              </a:spcAft>
              <a:buNone/>
            </a:pPr>
            <a:r>
              <a:rPr lang="en-US" sz="1150" b="1" dirty="0">
                <a:solidFill>
                  <a:srgbClr val="E8EDF7"/>
                </a:solidFill>
                <a:latin typeface="Arial" pitchFamily="34" charset="0"/>
                <a:ea typeface="Arial" pitchFamily="34" charset="-122"/>
                <a:cs typeface="Arial" pitchFamily="34" charset="-120"/>
              </a:rPr>
              <a:t>Synthetic asset dataset</a:t>
            </a:r>
            <a:endParaRPr lang="en-US" sz="1150" dirty="0"/>
          </a:p>
          <a:p>
            <a:pPr algn="l" indent="0" marL="0">
              <a:spcAft>
                <a:spcPts val="300"/>
              </a:spcAft>
              <a:buNone/>
            </a:pPr>
            <a:r>
              <a:rPr lang="en-US" sz="1150" dirty="0">
                <a:solidFill>
                  <a:srgbClr val="E8EDF7"/>
                </a:solidFill>
                <a:latin typeface="Arial" pitchFamily="34" charset="0"/>
                <a:ea typeface="Arial" pitchFamily="34" charset="-122"/>
                <a:cs typeface="Arial" pitchFamily="34" charset="-120"/>
              </a:rPr>
              <a:t>(sensors, age, maintenance, weather)</a:t>
            </a:r>
            <a:endParaRPr lang="en-US" sz="1150" dirty="0"/>
          </a:p>
          <a:p>
            <a:pPr algn="ctr" indent="0" marL="0">
              <a:spcAft>
                <a:spcPts val="300"/>
              </a:spcAft>
              <a:buNone/>
            </a:pPr>
            <a:r>
              <a:rPr lang="en-US" sz="1150" dirty="0">
                <a:solidFill>
                  <a:srgbClr val="8FA0C2"/>
                </a:solidFill>
                <a:latin typeface="Arial" pitchFamily="34" charset="0"/>
                <a:ea typeface="Arial" pitchFamily="34" charset="-122"/>
                <a:cs typeface="Arial" pitchFamily="34" charset="-120"/>
              </a:rPr>
              <a:t>↓</a:t>
            </a:r>
            <a:endParaRPr lang="en-US" sz="1150" dirty="0"/>
          </a:p>
          <a:p>
            <a:pPr algn="l" indent="0" marL="0">
              <a:spcAft>
                <a:spcPts val="300"/>
              </a:spcAft>
              <a:buNone/>
            </a:pPr>
            <a:r>
              <a:rPr lang="en-US" sz="1150" b="1" dirty="0">
                <a:solidFill>
                  <a:srgbClr val="E8EDF7"/>
                </a:solidFill>
                <a:latin typeface="Arial" pitchFamily="34" charset="0"/>
                <a:ea typeface="Arial" pitchFamily="34" charset="-122"/>
                <a:cs typeface="Arial" pitchFamily="34" charset="-120"/>
              </a:rPr>
              <a:t>Risk Scoring Engine</a:t>
            </a:r>
            <a:endParaRPr lang="en-US" sz="1150" dirty="0"/>
          </a:p>
          <a:p>
            <a:pPr algn="l" indent="0" marL="0">
              <a:spcAft>
                <a:spcPts val="300"/>
              </a:spcAft>
              <a:buNone/>
            </a:pPr>
            <a:r>
              <a:rPr lang="en-US" sz="1150" dirty="0">
                <a:solidFill>
                  <a:srgbClr val="E8EDF7"/>
                </a:solidFill>
                <a:latin typeface="Arial" pitchFamily="34" charset="0"/>
                <a:ea typeface="Arial" pitchFamily="34" charset="-122"/>
                <a:cs typeface="Arial" pitchFamily="34" charset="-120"/>
              </a:rPr>
              <a:t>(weighted multi-factor model)</a:t>
            </a:r>
            <a:endParaRPr lang="en-US" sz="1150" dirty="0"/>
          </a:p>
          <a:p>
            <a:pPr algn="ctr" indent="0" marL="0">
              <a:spcAft>
                <a:spcPts val="300"/>
              </a:spcAft>
              <a:buNone/>
            </a:pPr>
            <a:r>
              <a:rPr lang="en-US" sz="1150" dirty="0">
                <a:solidFill>
                  <a:srgbClr val="8FA0C2"/>
                </a:solidFill>
                <a:latin typeface="Arial" pitchFamily="34" charset="0"/>
                <a:ea typeface="Arial" pitchFamily="34" charset="-122"/>
                <a:cs typeface="Arial" pitchFamily="34" charset="-120"/>
              </a:rPr>
              <a:t>↓</a:t>
            </a:r>
            <a:endParaRPr lang="en-US" sz="1150" dirty="0"/>
          </a:p>
          <a:p>
            <a:pPr algn="l" indent="0" marL="0">
              <a:spcAft>
                <a:spcPts val="300"/>
              </a:spcAft>
              <a:buNone/>
            </a:pPr>
            <a:r>
              <a:rPr lang="en-US" sz="1150" b="1" dirty="0">
                <a:solidFill>
                  <a:srgbClr val="E8EDF7"/>
                </a:solidFill>
                <a:latin typeface="Arial" pitchFamily="34" charset="0"/>
                <a:ea typeface="Arial" pitchFamily="34" charset="-122"/>
                <a:cs typeface="Arial" pitchFamily="34" charset="-120"/>
              </a:rPr>
              <a:t>Ranked Table  +  Top-8 Chart</a:t>
            </a:r>
            <a:endParaRPr lang="en-US" sz="1150" dirty="0"/>
          </a:p>
          <a:p>
            <a:pPr algn="ctr" indent="0" marL="0">
              <a:spcAft>
                <a:spcPts val="300"/>
              </a:spcAft>
              <a:buNone/>
            </a:pPr>
            <a:r>
              <a:rPr lang="en-US" sz="1150" dirty="0">
                <a:solidFill>
                  <a:srgbClr val="8FA0C2"/>
                </a:solidFill>
                <a:latin typeface="Arial" pitchFamily="34" charset="0"/>
                <a:ea typeface="Arial" pitchFamily="34" charset="-122"/>
                <a:cs typeface="Arial" pitchFamily="34" charset="-120"/>
              </a:rPr>
              <a:t>↓</a:t>
            </a:r>
            <a:endParaRPr lang="en-US" sz="1150" dirty="0"/>
          </a:p>
          <a:p>
            <a:pPr algn="l" indent="0" marL="0">
              <a:spcAft>
                <a:spcPts val="300"/>
              </a:spcAft>
              <a:buNone/>
            </a:pPr>
            <a:r>
              <a:rPr lang="en-US" sz="1150" b="1" dirty="0">
                <a:solidFill>
                  <a:srgbClr val="E8EDF7"/>
                </a:solidFill>
                <a:latin typeface="Arial" pitchFamily="34" charset="0"/>
                <a:ea typeface="Arial" pitchFamily="34" charset="-122"/>
                <a:cs typeface="Arial" pitchFamily="34" charset="-120"/>
              </a:rPr>
              <a:t>Maintenance &amp; Crew Plan Generator</a:t>
            </a:r>
            <a:endParaRPr lang="en-US" sz="1150" dirty="0"/>
          </a:p>
          <a:p>
            <a:pPr algn="l" indent="0" marL="0">
              <a:spcAft>
                <a:spcPts val="300"/>
              </a:spcAft>
              <a:buNone/>
            </a:pPr>
            <a:r>
              <a:rPr lang="en-US" sz="1150" dirty="0">
                <a:solidFill>
                  <a:srgbClr val="E8EDF7"/>
                </a:solidFill>
                <a:latin typeface="Arial" pitchFamily="34" charset="0"/>
                <a:ea typeface="Arial" pitchFamily="34" charset="-122"/>
                <a:cs typeface="Arial" pitchFamily="34" charset="-120"/>
              </a:rPr>
              <a:t>(risk x grid-impact re-rank)</a:t>
            </a:r>
            <a:endParaRPr lang="en-US" sz="1150" dirty="0"/>
          </a:p>
        </p:txBody>
      </p:sp>
      <p:sp>
        <p:nvSpPr>
          <p:cNvPr id="8" name="Text 5"/>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FA0C2"/>
                </a:solidFill>
                <a:latin typeface="Arial" pitchFamily="34" charset="0"/>
                <a:ea typeface="Arial" pitchFamily="34" charset="-122"/>
                <a:cs typeface="Arial" pitchFamily="34" charset="-120"/>
              </a:rPr>
              <a:t>GridGuard AI  ·  IBM BoB AI Innovation Hackathon 2026</a:t>
            </a:r>
            <a:endParaRPr lang="en-US" sz="900" dirty="0"/>
          </a:p>
        </p:txBody>
      </p:sp>
      <p:sp>
        <p:nvSpPr>
          <p:cNvPr id="9" name="Text 6"/>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900" dirty="0">
                <a:solidFill>
                  <a:srgbClr val="8FA0C2"/>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640080" y="457200"/>
            <a:ext cx="10789920" cy="640080"/>
          </a:xfrm>
          <a:prstGeom prst="rect">
            <a:avLst/>
          </a:prstGeom>
          <a:noFill/>
          <a:ln/>
        </p:spPr>
        <p:txBody>
          <a:bodyPr wrap="square" lIns="0" tIns="0" rIns="0" bIns="0" rtlCol="0" anchor="ctr"/>
          <a:lstStyle/>
          <a:p>
            <a:pPr indent="0" marL="0">
              <a:buNone/>
            </a:pPr>
            <a:r>
              <a:rPr lang="en-US" sz="2800" b="1" dirty="0">
                <a:solidFill>
                  <a:srgbClr val="E8EDF7"/>
                </a:solidFill>
                <a:latin typeface="Arial" pitchFamily="34" charset="0"/>
                <a:ea typeface="Arial" pitchFamily="34" charset="-122"/>
                <a:cs typeface="Arial" pitchFamily="34" charset="-120"/>
              </a:rPr>
              <a:t>IBM Bob Integration</a:t>
            </a:r>
            <a:endParaRPr lang="en-US" sz="2800" dirty="0"/>
          </a:p>
        </p:txBody>
      </p:sp>
      <p:sp>
        <p:nvSpPr>
          <p:cNvPr id="3" name="Text 1"/>
          <p:cNvSpPr txBox="1"/>
          <p:nvPr/>
        </p:nvSpPr>
        <p:spPr>
          <a:xfrm>
            <a:off x="640080" y="1051560"/>
            <a:ext cx="10789920" cy="457200"/>
          </a:xfrm>
          <a:prstGeom prst="rect">
            <a:avLst/>
          </a:prstGeom>
          <a:noFill/>
          <a:ln/>
        </p:spPr>
        <p:txBody>
          <a:bodyPr wrap="square" lIns="0" tIns="0" rIns="0" bIns="0" rtlCol="0" anchor="ctr"/>
          <a:lstStyle/>
          <a:p>
            <a:pPr indent="0" marL="0">
              <a:buNone/>
            </a:pPr>
            <a:r>
              <a:rPr lang="en-US" sz="1500" dirty="0">
                <a:solidFill>
                  <a:srgbClr val="8FA0C2"/>
                </a:solidFill>
                <a:latin typeface="Arial" pitchFamily="34" charset="0"/>
                <a:ea typeface="Arial" pitchFamily="34" charset="-122"/>
                <a:cs typeface="Arial" pitchFamily="34" charset="-120"/>
              </a:rPr>
              <a:t>Bob was part of the build process, not a name-drop</a:t>
            </a:r>
            <a:endParaRPr lang="en-US" sz="1500" dirty="0"/>
          </a:p>
        </p:txBody>
      </p:sp>
      <p:sp>
        <p:nvSpPr>
          <p:cNvPr id="4" name="Shape 2"/>
          <p:cNvSpPr/>
          <p:nvPr/>
        </p:nvSpPr>
        <p:spPr>
          <a:xfrm>
            <a:off x="640080" y="1920240"/>
            <a:ext cx="10789920" cy="1234440"/>
          </a:xfrm>
          <a:prstGeom prst="roundRect">
            <a:avLst>
              <a:gd name="adj" fmla="val 4444"/>
            </a:avLst>
          </a:prstGeom>
          <a:solidFill>
            <a:srgbClr val="121B2E"/>
          </a:solidFill>
          <a:ln w="12700">
            <a:solidFill>
              <a:srgbClr val="25314F"/>
            </a:solidFill>
            <a:prstDash val="solid"/>
          </a:ln>
        </p:spPr>
      </p:sp>
      <p:sp>
        <p:nvSpPr>
          <p:cNvPr id="5" name="Text 3"/>
          <p:cNvSpPr txBox="1"/>
          <p:nvPr/>
        </p:nvSpPr>
        <p:spPr>
          <a:xfrm>
            <a:off x="914400" y="2066544"/>
            <a:ext cx="10241280" cy="365760"/>
          </a:xfrm>
          <a:prstGeom prst="rect">
            <a:avLst/>
          </a:prstGeom>
          <a:noFill/>
          <a:ln/>
        </p:spPr>
        <p:txBody>
          <a:bodyPr wrap="square" lIns="0" tIns="0" rIns="0" bIns="0" rtlCol="0" anchor="ctr"/>
          <a:lstStyle/>
          <a:p>
            <a:pPr indent="0" marL="0">
              <a:buNone/>
            </a:pPr>
            <a:r>
              <a:rPr lang="en-US" sz="1500" b="1" dirty="0">
                <a:solidFill>
                  <a:srgbClr val="5B8CFF"/>
                </a:solidFill>
                <a:latin typeface="Arial" pitchFamily="34" charset="0"/>
                <a:ea typeface="Arial" pitchFamily="34" charset="-122"/>
                <a:cs typeface="Arial" pitchFamily="34" charset="-120"/>
              </a:rPr>
              <a:t>Scaffolding</a:t>
            </a:r>
            <a:endParaRPr lang="en-US" sz="1500" dirty="0"/>
          </a:p>
        </p:txBody>
      </p:sp>
      <p:sp>
        <p:nvSpPr>
          <p:cNvPr id="6" name="Text 4"/>
          <p:cNvSpPr txBox="1"/>
          <p:nvPr/>
        </p:nvSpPr>
        <p:spPr>
          <a:xfrm>
            <a:off x="914400" y="2450592"/>
            <a:ext cx="10241280" cy="594360"/>
          </a:xfrm>
          <a:prstGeom prst="rect">
            <a:avLst/>
          </a:prstGeom>
          <a:noFill/>
          <a:ln/>
        </p:spPr>
        <p:txBody>
          <a:bodyPr wrap="square" lIns="0" tIns="0" rIns="0" bIns="0" rtlCol="0" anchor="ctr"/>
          <a:lstStyle/>
          <a:p>
            <a:pPr indent="0" marL="0">
              <a:buNone/>
            </a:pPr>
            <a:r>
              <a:rPr lang="en-US" sz="1300" dirty="0">
                <a:solidFill>
                  <a:srgbClr val="E8EDF7"/>
                </a:solidFill>
                <a:latin typeface="Arial" pitchFamily="34" charset="0"/>
                <a:ea typeface="Arial" pitchFamily="34" charset="-122"/>
                <a:cs typeface="Arial" pitchFamily="34" charset="-120"/>
              </a:rPr>
              <a:t>Generated the initial structure of the risk-scoring engine from a plain-English description of the 7 weighted factors.</a:t>
            </a:r>
            <a:endParaRPr lang="en-US" sz="1300" dirty="0"/>
          </a:p>
        </p:txBody>
      </p:sp>
      <p:sp>
        <p:nvSpPr>
          <p:cNvPr id="7" name="Shape 5"/>
          <p:cNvSpPr/>
          <p:nvPr/>
        </p:nvSpPr>
        <p:spPr>
          <a:xfrm>
            <a:off x="640080" y="3383280"/>
            <a:ext cx="10789920" cy="1234440"/>
          </a:xfrm>
          <a:prstGeom prst="roundRect">
            <a:avLst>
              <a:gd name="adj" fmla="val 4444"/>
            </a:avLst>
          </a:prstGeom>
          <a:solidFill>
            <a:srgbClr val="121B2E"/>
          </a:solidFill>
          <a:ln w="12700">
            <a:solidFill>
              <a:srgbClr val="25314F"/>
            </a:solidFill>
            <a:prstDash val="solid"/>
          </a:ln>
        </p:spPr>
      </p:sp>
      <p:sp>
        <p:nvSpPr>
          <p:cNvPr id="8" name="Text 6"/>
          <p:cNvSpPr txBox="1"/>
          <p:nvPr/>
        </p:nvSpPr>
        <p:spPr>
          <a:xfrm>
            <a:off x="914400" y="3529584"/>
            <a:ext cx="10241280" cy="365760"/>
          </a:xfrm>
          <a:prstGeom prst="rect">
            <a:avLst/>
          </a:prstGeom>
          <a:noFill/>
          <a:ln/>
        </p:spPr>
        <p:txBody>
          <a:bodyPr wrap="square" lIns="0" tIns="0" rIns="0" bIns="0" rtlCol="0" anchor="ctr"/>
          <a:lstStyle/>
          <a:p>
            <a:pPr indent="0" marL="0">
              <a:buNone/>
            </a:pPr>
            <a:r>
              <a:rPr lang="en-US" sz="1500" b="1" dirty="0">
                <a:solidFill>
                  <a:srgbClr val="5B8CFF"/>
                </a:solidFill>
                <a:latin typeface="Arial" pitchFamily="34" charset="0"/>
                <a:ea typeface="Arial" pitchFamily="34" charset="-122"/>
                <a:cs typeface="Arial" pitchFamily="34" charset="-120"/>
              </a:rPr>
              <a:t>Iteration</a:t>
            </a:r>
            <a:endParaRPr lang="en-US" sz="1500" dirty="0"/>
          </a:p>
        </p:txBody>
      </p:sp>
      <p:sp>
        <p:nvSpPr>
          <p:cNvPr id="9" name="Text 7"/>
          <p:cNvSpPr txBox="1"/>
          <p:nvPr/>
        </p:nvSpPr>
        <p:spPr>
          <a:xfrm>
            <a:off x="914400" y="3913632"/>
            <a:ext cx="10241280" cy="594360"/>
          </a:xfrm>
          <a:prstGeom prst="rect">
            <a:avLst/>
          </a:prstGeom>
          <a:noFill/>
          <a:ln/>
        </p:spPr>
        <p:txBody>
          <a:bodyPr wrap="square" lIns="0" tIns="0" rIns="0" bIns="0" rtlCol="0" anchor="ctr"/>
          <a:lstStyle/>
          <a:p>
            <a:pPr indent="0" marL="0">
              <a:buNone/>
            </a:pPr>
            <a:r>
              <a:rPr lang="en-US" sz="1300" dirty="0">
                <a:solidFill>
                  <a:srgbClr val="E8EDF7"/>
                </a:solidFill>
                <a:latin typeface="Arial" pitchFamily="34" charset="0"/>
                <a:ea typeface="Arial" pitchFamily="34" charset="-122"/>
                <a:cs typeface="Arial" pitchFamily="34" charset="-120"/>
              </a:rPr>
              <a:t>Refined the maintenance/crew plan generator logic — moving from a simple risk sort to a risk x grid-impact re-rank.</a:t>
            </a:r>
            <a:endParaRPr lang="en-US" sz="1300" dirty="0"/>
          </a:p>
        </p:txBody>
      </p:sp>
      <p:sp>
        <p:nvSpPr>
          <p:cNvPr id="10" name="Shape 8"/>
          <p:cNvSpPr/>
          <p:nvPr/>
        </p:nvSpPr>
        <p:spPr>
          <a:xfrm>
            <a:off x="640080" y="4846320"/>
            <a:ext cx="10789920" cy="1234440"/>
          </a:xfrm>
          <a:prstGeom prst="roundRect">
            <a:avLst>
              <a:gd name="adj" fmla="val 4444"/>
            </a:avLst>
          </a:prstGeom>
          <a:solidFill>
            <a:srgbClr val="121B2E"/>
          </a:solidFill>
          <a:ln w="12700">
            <a:solidFill>
              <a:srgbClr val="25314F"/>
            </a:solidFill>
            <a:prstDash val="solid"/>
          </a:ln>
        </p:spPr>
      </p:sp>
      <p:sp>
        <p:nvSpPr>
          <p:cNvPr id="11" name="Text 9"/>
          <p:cNvSpPr txBox="1"/>
          <p:nvPr/>
        </p:nvSpPr>
        <p:spPr>
          <a:xfrm>
            <a:off x="914400" y="4992624"/>
            <a:ext cx="10241280" cy="365760"/>
          </a:xfrm>
          <a:prstGeom prst="rect">
            <a:avLst/>
          </a:prstGeom>
          <a:noFill/>
          <a:ln/>
        </p:spPr>
        <p:txBody>
          <a:bodyPr wrap="square" lIns="0" tIns="0" rIns="0" bIns="0" rtlCol="0" anchor="ctr"/>
          <a:lstStyle/>
          <a:p>
            <a:pPr indent="0" marL="0">
              <a:buNone/>
            </a:pPr>
            <a:r>
              <a:rPr lang="en-US" sz="1500" b="1" dirty="0">
                <a:solidFill>
                  <a:srgbClr val="5B8CFF"/>
                </a:solidFill>
                <a:latin typeface="Arial" pitchFamily="34" charset="0"/>
                <a:ea typeface="Arial" pitchFamily="34" charset="-122"/>
                <a:cs typeface="Arial" pitchFamily="34" charset="-120"/>
              </a:rPr>
              <a:t>Review</a:t>
            </a:r>
            <a:endParaRPr lang="en-US" sz="1500" dirty="0"/>
          </a:p>
        </p:txBody>
      </p:sp>
      <p:sp>
        <p:nvSpPr>
          <p:cNvPr id="12" name="Text 10"/>
          <p:cNvSpPr txBox="1"/>
          <p:nvPr/>
        </p:nvSpPr>
        <p:spPr>
          <a:xfrm>
            <a:off x="914400" y="5376672"/>
            <a:ext cx="10241280" cy="594360"/>
          </a:xfrm>
          <a:prstGeom prst="rect">
            <a:avLst/>
          </a:prstGeom>
          <a:noFill/>
          <a:ln/>
        </p:spPr>
        <p:txBody>
          <a:bodyPr wrap="square" lIns="0" tIns="0" rIns="0" bIns="0" rtlCol="0" anchor="ctr"/>
          <a:lstStyle/>
          <a:p>
            <a:pPr indent="0" marL="0">
              <a:buNone/>
            </a:pPr>
            <a:r>
              <a:rPr lang="en-US" sz="1300" dirty="0">
                <a:solidFill>
                  <a:srgbClr val="E8EDF7"/>
                </a:solidFill>
                <a:latin typeface="Arial" pitchFamily="34" charset="0"/>
                <a:ea typeface="Arial" pitchFamily="34" charset="-122"/>
                <a:cs typeface="Arial" pitchFamily="34" charset="-120"/>
              </a:rPr>
              <a:t>Reviewed the final code for bugs, readability, and edge cases (e.g. zero actionable assets) before submission.</a:t>
            </a:r>
            <a:endParaRPr lang="en-US" sz="1300" dirty="0"/>
          </a:p>
        </p:txBody>
      </p:sp>
      <p:sp>
        <p:nvSpPr>
          <p:cNvPr id="13" name="Text 11"/>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FA0C2"/>
                </a:solidFill>
                <a:latin typeface="Arial" pitchFamily="34" charset="0"/>
                <a:ea typeface="Arial" pitchFamily="34" charset="-122"/>
                <a:cs typeface="Arial" pitchFamily="34" charset="-120"/>
              </a:rPr>
              <a:t>GridGuard AI  ·  IBM BoB AI Innovation Hackathon 2026</a:t>
            </a:r>
            <a:endParaRPr lang="en-US" sz="900" dirty="0"/>
          </a:p>
        </p:txBody>
      </p:sp>
      <p:sp>
        <p:nvSpPr>
          <p:cNvPr id="14" name="Text 12"/>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900" dirty="0">
                <a:solidFill>
                  <a:srgbClr val="8FA0C2"/>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640080" y="457200"/>
            <a:ext cx="10789920" cy="640080"/>
          </a:xfrm>
          <a:prstGeom prst="rect">
            <a:avLst/>
          </a:prstGeom>
          <a:noFill/>
          <a:ln/>
        </p:spPr>
        <p:txBody>
          <a:bodyPr wrap="square" lIns="0" tIns="0" rIns="0" bIns="0" rtlCol="0" anchor="ctr"/>
          <a:lstStyle/>
          <a:p>
            <a:pPr indent="0" marL="0">
              <a:buNone/>
            </a:pPr>
            <a:r>
              <a:rPr lang="en-US" sz="2800" b="1" dirty="0">
                <a:solidFill>
                  <a:srgbClr val="E8EDF7"/>
                </a:solidFill>
                <a:latin typeface="Arial" pitchFamily="34" charset="0"/>
                <a:ea typeface="Arial" pitchFamily="34" charset="-122"/>
                <a:cs typeface="Arial" pitchFamily="34" charset="-120"/>
              </a:rPr>
              <a:t>Impact</a:t>
            </a:r>
            <a:endParaRPr lang="en-US" sz="2800" dirty="0"/>
          </a:p>
        </p:txBody>
      </p:sp>
      <p:sp>
        <p:nvSpPr>
          <p:cNvPr id="3" name="Text 1"/>
          <p:cNvSpPr txBox="1"/>
          <p:nvPr/>
        </p:nvSpPr>
        <p:spPr>
          <a:xfrm>
            <a:off x="640080" y="1051560"/>
            <a:ext cx="10789920" cy="457200"/>
          </a:xfrm>
          <a:prstGeom prst="rect">
            <a:avLst/>
          </a:prstGeom>
          <a:noFill/>
          <a:ln/>
        </p:spPr>
        <p:txBody>
          <a:bodyPr wrap="square" lIns="0" tIns="0" rIns="0" bIns="0" rtlCol="0" anchor="ctr"/>
          <a:lstStyle/>
          <a:p>
            <a:pPr indent="0" marL="0">
              <a:buNone/>
            </a:pPr>
            <a:r>
              <a:rPr lang="en-US" sz="1500" dirty="0">
                <a:solidFill>
                  <a:srgbClr val="8FA0C2"/>
                </a:solidFill>
                <a:latin typeface="Arial" pitchFamily="34" charset="0"/>
                <a:ea typeface="Arial" pitchFamily="34" charset="-122"/>
                <a:cs typeface="Arial" pitchFamily="34" charset="-120"/>
              </a:rPr>
              <a:t>What this could become beyond the hackathon</a:t>
            </a:r>
            <a:endParaRPr lang="en-US" sz="1500" dirty="0"/>
          </a:p>
        </p:txBody>
      </p:sp>
      <p:sp>
        <p:nvSpPr>
          <p:cNvPr id="4" name="Shape 2"/>
          <p:cNvSpPr/>
          <p:nvPr/>
        </p:nvSpPr>
        <p:spPr>
          <a:xfrm>
            <a:off x="640080" y="2011680"/>
            <a:ext cx="3474720" cy="3291840"/>
          </a:xfrm>
          <a:prstGeom prst="roundRect">
            <a:avLst>
              <a:gd name="adj" fmla="val 1667"/>
            </a:avLst>
          </a:prstGeom>
          <a:solidFill>
            <a:srgbClr val="121B2E"/>
          </a:solidFill>
          <a:ln w="12700">
            <a:solidFill>
              <a:srgbClr val="25314F"/>
            </a:solidFill>
            <a:prstDash val="solid"/>
          </a:ln>
        </p:spPr>
      </p:sp>
      <p:sp>
        <p:nvSpPr>
          <p:cNvPr id="5" name="Text 3"/>
          <p:cNvSpPr txBox="1"/>
          <p:nvPr/>
        </p:nvSpPr>
        <p:spPr>
          <a:xfrm>
            <a:off x="914400" y="2240280"/>
            <a:ext cx="2926080" cy="365760"/>
          </a:xfrm>
          <a:prstGeom prst="rect">
            <a:avLst/>
          </a:prstGeom>
          <a:noFill/>
          <a:ln/>
        </p:spPr>
        <p:txBody>
          <a:bodyPr wrap="square" lIns="0" tIns="0" rIns="0" bIns="0" rtlCol="0" anchor="ctr"/>
          <a:lstStyle/>
          <a:p>
            <a:pPr indent="0" marL="0">
              <a:buNone/>
            </a:pPr>
            <a:r>
              <a:rPr lang="en-US" sz="1500" b="1" dirty="0">
                <a:solidFill>
                  <a:srgbClr val="4FD1C5"/>
                </a:solidFill>
                <a:latin typeface="Arial" pitchFamily="34" charset="0"/>
                <a:ea typeface="Arial" pitchFamily="34" charset="-122"/>
                <a:cs typeface="Arial" pitchFamily="34" charset="-120"/>
              </a:rPr>
              <a:t>Today</a:t>
            </a:r>
            <a:endParaRPr lang="en-US" sz="1500" dirty="0"/>
          </a:p>
        </p:txBody>
      </p:sp>
      <p:sp>
        <p:nvSpPr>
          <p:cNvPr id="6" name="Text 4"/>
          <p:cNvSpPr txBox="1"/>
          <p:nvPr/>
        </p:nvSpPr>
        <p:spPr>
          <a:xfrm>
            <a:off x="914400" y="2697480"/>
            <a:ext cx="2926080" cy="2377440"/>
          </a:xfrm>
          <a:prstGeom prst="rect">
            <a:avLst/>
          </a:prstGeom>
          <a:noFill/>
          <a:ln/>
        </p:spPr>
        <p:txBody>
          <a:bodyPr wrap="square" lIns="0" tIns="0" rIns="0" bIns="0" rtlCol="0" anchor="ctr"/>
          <a:lstStyle/>
          <a:p>
            <a:pPr indent="0" marL="0">
              <a:buNone/>
            </a:pPr>
            <a:r>
              <a:rPr lang="en-US" sz="1250" dirty="0">
                <a:solidFill>
                  <a:srgbClr val="E8EDF7"/>
                </a:solidFill>
                <a:latin typeface="Arial" pitchFamily="34" charset="0"/>
                <a:ea typeface="Arial" pitchFamily="34" charset="-122"/>
                <a:cs typeface="Arial" pitchFamily="34" charset="-120"/>
              </a:rPr>
              <a:t>Explainable heuristic risk model over a synthetic 18-asset fleet, running as a zero-install browser dashboard.</a:t>
            </a:r>
            <a:endParaRPr lang="en-US" sz="1250" dirty="0"/>
          </a:p>
        </p:txBody>
      </p:sp>
      <p:sp>
        <p:nvSpPr>
          <p:cNvPr id="7" name="Shape 5"/>
          <p:cNvSpPr/>
          <p:nvPr/>
        </p:nvSpPr>
        <p:spPr>
          <a:xfrm>
            <a:off x="4343400" y="2011680"/>
            <a:ext cx="3474720" cy="3291840"/>
          </a:xfrm>
          <a:prstGeom prst="roundRect">
            <a:avLst>
              <a:gd name="adj" fmla="val 1667"/>
            </a:avLst>
          </a:prstGeom>
          <a:solidFill>
            <a:srgbClr val="121B2E"/>
          </a:solidFill>
          <a:ln w="12700">
            <a:solidFill>
              <a:srgbClr val="25314F"/>
            </a:solidFill>
            <a:prstDash val="solid"/>
          </a:ln>
        </p:spPr>
      </p:sp>
      <p:sp>
        <p:nvSpPr>
          <p:cNvPr id="8" name="Text 6"/>
          <p:cNvSpPr txBox="1"/>
          <p:nvPr/>
        </p:nvSpPr>
        <p:spPr>
          <a:xfrm>
            <a:off x="4617720" y="2240280"/>
            <a:ext cx="2926080" cy="365760"/>
          </a:xfrm>
          <a:prstGeom prst="rect">
            <a:avLst/>
          </a:prstGeom>
          <a:noFill/>
          <a:ln/>
        </p:spPr>
        <p:txBody>
          <a:bodyPr wrap="square" lIns="0" tIns="0" rIns="0" bIns="0" rtlCol="0" anchor="ctr"/>
          <a:lstStyle/>
          <a:p>
            <a:pPr indent="0" marL="0">
              <a:buNone/>
            </a:pPr>
            <a:r>
              <a:rPr lang="en-US" sz="1500" b="1" dirty="0">
                <a:solidFill>
                  <a:srgbClr val="4FD1C5"/>
                </a:solidFill>
                <a:latin typeface="Arial" pitchFamily="34" charset="0"/>
                <a:ea typeface="Arial" pitchFamily="34" charset="-122"/>
                <a:cs typeface="Arial" pitchFamily="34" charset="-120"/>
              </a:rPr>
              <a:t>Next</a:t>
            </a:r>
            <a:endParaRPr lang="en-US" sz="1500" dirty="0"/>
          </a:p>
        </p:txBody>
      </p:sp>
      <p:sp>
        <p:nvSpPr>
          <p:cNvPr id="9" name="Text 7"/>
          <p:cNvSpPr txBox="1"/>
          <p:nvPr/>
        </p:nvSpPr>
        <p:spPr>
          <a:xfrm>
            <a:off x="4617720" y="2697480"/>
            <a:ext cx="2926080" cy="2377440"/>
          </a:xfrm>
          <a:prstGeom prst="rect">
            <a:avLst/>
          </a:prstGeom>
          <a:noFill/>
          <a:ln/>
        </p:spPr>
        <p:txBody>
          <a:bodyPr wrap="square" lIns="0" tIns="0" rIns="0" bIns="0" rtlCol="0" anchor="ctr"/>
          <a:lstStyle/>
          <a:p>
            <a:pPr indent="0" marL="0">
              <a:buNone/>
            </a:pPr>
            <a:r>
              <a:rPr lang="en-US" sz="1250" dirty="0">
                <a:solidFill>
                  <a:srgbClr val="E8EDF7"/>
                </a:solidFill>
                <a:latin typeface="Arial" pitchFamily="34" charset="0"/>
                <a:ea typeface="Arial" pitchFamily="34" charset="-122"/>
                <a:cs typeface="Arial" pitchFamily="34" charset="-120"/>
              </a:rPr>
              <a:t>Train a real ML model on historical failure labels via IBM watsonx.ai, using the exact factors already logged.</a:t>
            </a:r>
            <a:endParaRPr lang="en-US" sz="1250" dirty="0"/>
          </a:p>
        </p:txBody>
      </p:sp>
      <p:sp>
        <p:nvSpPr>
          <p:cNvPr id="10" name="Shape 8"/>
          <p:cNvSpPr/>
          <p:nvPr/>
        </p:nvSpPr>
        <p:spPr>
          <a:xfrm>
            <a:off x="8046720" y="2011680"/>
            <a:ext cx="3474720" cy="3291840"/>
          </a:xfrm>
          <a:prstGeom prst="roundRect">
            <a:avLst>
              <a:gd name="adj" fmla="val 1667"/>
            </a:avLst>
          </a:prstGeom>
          <a:solidFill>
            <a:srgbClr val="121B2E"/>
          </a:solidFill>
          <a:ln w="12700">
            <a:solidFill>
              <a:srgbClr val="25314F"/>
            </a:solidFill>
            <a:prstDash val="solid"/>
          </a:ln>
        </p:spPr>
      </p:sp>
      <p:sp>
        <p:nvSpPr>
          <p:cNvPr id="11" name="Text 9"/>
          <p:cNvSpPr txBox="1"/>
          <p:nvPr/>
        </p:nvSpPr>
        <p:spPr>
          <a:xfrm>
            <a:off x="8321040" y="2240280"/>
            <a:ext cx="2926080" cy="365760"/>
          </a:xfrm>
          <a:prstGeom prst="rect">
            <a:avLst/>
          </a:prstGeom>
          <a:noFill/>
          <a:ln/>
        </p:spPr>
        <p:txBody>
          <a:bodyPr wrap="square" lIns="0" tIns="0" rIns="0" bIns="0" rtlCol="0" anchor="ctr"/>
          <a:lstStyle/>
          <a:p>
            <a:pPr indent="0" marL="0">
              <a:buNone/>
            </a:pPr>
            <a:r>
              <a:rPr lang="en-US" sz="1500" b="1" dirty="0">
                <a:solidFill>
                  <a:srgbClr val="4FD1C5"/>
                </a:solidFill>
                <a:latin typeface="Arial" pitchFamily="34" charset="0"/>
                <a:ea typeface="Arial" pitchFamily="34" charset="-122"/>
                <a:cs typeface="Arial" pitchFamily="34" charset="-120"/>
              </a:rPr>
              <a:t>At scale</a:t>
            </a:r>
            <a:endParaRPr lang="en-US" sz="1500" dirty="0"/>
          </a:p>
        </p:txBody>
      </p:sp>
      <p:sp>
        <p:nvSpPr>
          <p:cNvPr id="12" name="Text 10"/>
          <p:cNvSpPr txBox="1"/>
          <p:nvPr/>
        </p:nvSpPr>
        <p:spPr>
          <a:xfrm>
            <a:off x="8321040" y="2697480"/>
            <a:ext cx="2926080" cy="2377440"/>
          </a:xfrm>
          <a:prstGeom prst="rect">
            <a:avLst/>
          </a:prstGeom>
          <a:noFill/>
          <a:ln/>
        </p:spPr>
        <p:txBody>
          <a:bodyPr wrap="square" lIns="0" tIns="0" rIns="0" bIns="0" rtlCol="0" anchor="ctr"/>
          <a:lstStyle/>
          <a:p>
            <a:pPr indent="0" marL="0">
              <a:buNone/>
            </a:pPr>
            <a:r>
              <a:rPr lang="en-US" sz="1250" dirty="0">
                <a:solidFill>
                  <a:srgbClr val="E8EDF7"/>
                </a:solidFill>
                <a:latin typeface="Arial" pitchFamily="34" charset="0"/>
                <a:ea typeface="Arial" pitchFamily="34" charset="-122"/>
                <a:cs typeface="Arial" pitchFamily="34" charset="-120"/>
              </a:rPr>
              <a:t>Connect live SCADA/HUMS + weather API feeds; feedback loop from confirmed failures retrains the model over time.</a:t>
            </a:r>
            <a:endParaRPr lang="en-US" sz="1250" dirty="0"/>
          </a:p>
        </p:txBody>
      </p:sp>
      <p:sp>
        <p:nvSpPr>
          <p:cNvPr id="13" name="Text 11"/>
          <p:cNvSpPr txBox="1"/>
          <p:nvPr/>
        </p:nvSpPr>
        <p:spPr>
          <a:xfrm>
            <a:off x="640080" y="5532120"/>
            <a:ext cx="10789920" cy="640080"/>
          </a:xfrm>
          <a:prstGeom prst="rect">
            <a:avLst/>
          </a:prstGeom>
          <a:noFill/>
          <a:ln/>
        </p:spPr>
        <p:txBody>
          <a:bodyPr wrap="square" lIns="0" tIns="0" rIns="0" bIns="0" rtlCol="0" anchor="ctr"/>
          <a:lstStyle/>
          <a:p>
            <a:pPr indent="0" marL="0">
              <a:buNone/>
            </a:pPr>
            <a:r>
              <a:rPr lang="en-US" sz="1300" i="1" dirty="0">
                <a:solidFill>
                  <a:srgbClr val="8FA0C2"/>
                </a:solidFill>
                <a:latin typeface="Arial" pitchFamily="34" charset="0"/>
                <a:ea typeface="Arial" pitchFamily="34" charset="-122"/>
                <a:cs typeface="Arial" pitchFamily="34" charset="-120"/>
              </a:rPr>
              <a:t>For a mid-size utility, shifting even a fraction of assets from reactive to predicted maintenance is worth millions in avoided outage-hours per year.</a:t>
            </a:r>
            <a:endParaRPr lang="en-US" sz="1300" dirty="0"/>
          </a:p>
        </p:txBody>
      </p:sp>
      <p:sp>
        <p:nvSpPr>
          <p:cNvPr id="14" name="Text 12"/>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FA0C2"/>
                </a:solidFill>
                <a:latin typeface="Arial" pitchFamily="34" charset="0"/>
                <a:ea typeface="Arial" pitchFamily="34" charset="-122"/>
                <a:cs typeface="Arial" pitchFamily="34" charset="-120"/>
              </a:rPr>
              <a:t>GridGuard AI  ·  IBM BoB AI Innovation Hackathon 2026</a:t>
            </a:r>
            <a:endParaRPr lang="en-US" sz="900" dirty="0"/>
          </a:p>
        </p:txBody>
      </p:sp>
      <p:sp>
        <p:nvSpPr>
          <p:cNvPr id="15" name="Text 13"/>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900" dirty="0">
                <a:solidFill>
                  <a:srgbClr val="8FA0C2"/>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822960" y="2651760"/>
            <a:ext cx="10515600" cy="914400"/>
          </a:xfrm>
          <a:prstGeom prst="rect">
            <a:avLst/>
          </a:prstGeom>
          <a:noFill/>
          <a:ln/>
        </p:spPr>
        <p:txBody>
          <a:bodyPr wrap="square" lIns="0" tIns="0" rIns="0" bIns="0" rtlCol="0" anchor="ctr"/>
          <a:lstStyle/>
          <a:p>
            <a:pPr indent="0" marL="0">
              <a:buNone/>
            </a:pPr>
            <a:r>
              <a:rPr lang="en-US" sz="3800" b="1" dirty="0">
                <a:solidFill>
                  <a:srgbClr val="E8EDF7"/>
                </a:solidFill>
                <a:latin typeface="Arial" pitchFamily="34" charset="0"/>
                <a:ea typeface="Arial" pitchFamily="34" charset="-122"/>
                <a:cs typeface="Arial" pitchFamily="34" charset="-120"/>
              </a:rPr>
              <a:t>Thank You</a:t>
            </a:r>
            <a:endParaRPr lang="en-US" sz="3800" dirty="0"/>
          </a:p>
        </p:txBody>
      </p:sp>
      <p:sp>
        <p:nvSpPr>
          <p:cNvPr id="3" name="Text 1"/>
          <p:cNvSpPr txBox="1"/>
          <p:nvPr/>
        </p:nvSpPr>
        <p:spPr>
          <a:xfrm>
            <a:off x="822960" y="3429000"/>
            <a:ext cx="10515600" cy="457200"/>
          </a:xfrm>
          <a:prstGeom prst="rect">
            <a:avLst/>
          </a:prstGeom>
          <a:noFill/>
          <a:ln/>
        </p:spPr>
        <p:txBody>
          <a:bodyPr wrap="square" lIns="0" tIns="0" rIns="0" bIns="0" rtlCol="0" anchor="ctr"/>
          <a:lstStyle/>
          <a:p>
            <a:pPr indent="0" marL="0">
              <a:buNone/>
            </a:pPr>
            <a:r>
              <a:rPr lang="en-US" sz="1600" dirty="0">
                <a:solidFill>
                  <a:srgbClr val="4FD1C5"/>
                </a:solidFill>
                <a:latin typeface="Arial" pitchFamily="34" charset="0"/>
                <a:ea typeface="Arial" pitchFamily="34" charset="-122"/>
                <a:cs typeface="Arial" pitchFamily="34" charset="-120"/>
              </a:rPr>
              <a:t>GridGuard AI — Outage &amp; Equipment Failure Advisor</a:t>
            </a:r>
            <a:endParaRPr lang="en-US" sz="1600" dirty="0"/>
          </a:p>
        </p:txBody>
      </p:sp>
      <p:sp>
        <p:nvSpPr>
          <p:cNvPr id="4" name="Text 2"/>
          <p:cNvSpPr txBox="1"/>
          <p:nvPr/>
        </p:nvSpPr>
        <p:spPr>
          <a:xfrm>
            <a:off x="822960" y="4023360"/>
            <a:ext cx="10058400" cy="365760"/>
          </a:xfrm>
          <a:prstGeom prst="rect">
            <a:avLst/>
          </a:prstGeom>
          <a:noFill/>
          <a:ln/>
        </p:spPr>
        <p:txBody>
          <a:bodyPr wrap="square" lIns="0" tIns="0" rIns="0" bIns="0" rtlCol="0" anchor="ctr"/>
          <a:lstStyle/>
          <a:p>
            <a:pPr indent="0" marL="0">
              <a:buNone/>
            </a:pPr>
            <a:r>
              <a:rPr lang="en-US" sz="1300" dirty="0">
                <a:solidFill>
                  <a:srgbClr val="8FA0C2"/>
                </a:solidFill>
                <a:latin typeface="Arial" pitchFamily="34" charset="0"/>
                <a:ea typeface="Arial" pitchFamily="34" charset="-122"/>
                <a:cs typeface="Arial" pitchFamily="34" charset="-120"/>
              </a:rPr>
              <a:t>Repo: github.com/[your-username]/bob-ai-hackathon-[your-team-name]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2026-09-15T06:11:48Z</dcterms:created>
  <dcterms:modified xsi:type="dcterms:W3CDTF">2026-09-15T06:11:48Z</dcterms:modified>
</cp:coreProperties>
</file>